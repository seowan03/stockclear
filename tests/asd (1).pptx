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LLM이 재고 위험도를 직접 계산하지는 않습니다. 서버는 위험 등급·점수·할인율·추천가격을 결정하고, LLM은 서버 분석값과 데이터 품질 정보를 바탕으로 설명과 확인 항목을 생성합니다. 발표에서는 이 결정 권한의 경계를 핵심 설계로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메시지에는 답변 원칙과 금지사항을 둡니다. user 메시지는 재고 분석값과 데이터 품질 플래그를 JSON으로 전달합니다. 구조 검증은 JSON 파싱과 Pydantic 필드·자료형·길이·추가 필드 조건을 확인합니다. 품목 진단의 근거 검증은 metric-ref 대응, 입력 경로 존재, 중복 근거, 상품명 포함, 일부 미지원 주장을 확인합니다. 업로드 요약은 허용 evidence ref와 품목 ID, 데이터 한계의 실제 여부도 확인합니다. 검증은 위험을 낮추지만 문장의 의미상 사실성을 완전히 보장하지는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품목 진단은 입력 해시가 현재 컨텍스트와 맞는지 확인하고, 캐시 적중 시 저장된 응답을 현재 입력·서버 결정값에 대조한 뒤 재사용합니다. 캐시 미스 시 모델 호출 후 파싱·스키마·근거 검증을 하며, API·타임아웃·동시성·검증 실패 시 규칙 기반 설명으로 전환합니다. AI 성공 응답만 캐시하고 fallback은 AI 캐시에 저장하지 않습니다. 품목 요청 대기 제한은 12초, 업로드 요약은 15초입니다. 사용자당 동시 호출은 1건, 프로세스의 공유 동시 호출 제한은 8건입니다. 여러 프로세스를 쓰면 프로세스마다 제한이 적용되며 전체 클러스터 합산 제한은 아닙니다. 타임아웃은 요청 대기를 끝내도 이미 실행 중인 동기 작업 스레드를 강제 종료하지 않습니다. 업로드 요약은 성공을 complete, 생성·검증 실패를 failed로 저장하며 규칙 기반 요약으로 대체하지 않습니다. 재시도는 요청 사용자의 업로드 소유권과 failed 상태를 확인한 뒤 허용합니다.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3108960"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STOCKCLEAR  /  LLM</a:t>
            </a:r>
          </a:p>
        </p:txBody>
      </p:sp>
      <p:sp>
        <p:nvSpPr>
          <p:cNvPr id="4" name="TextBox 3"/>
          <p:cNvSpPr txBox="1"/>
          <p:nvPr/>
        </p:nvSpPr>
        <p:spPr>
          <a:xfrm>
            <a:off x="8321040" y="256032"/>
            <a:ext cx="3246120" cy="182880"/>
          </a:xfrm>
          <a:prstGeom prst="rect">
            <a:avLst/>
          </a:prstGeom>
          <a:noFill/>
        </p:spPr>
        <p:txBody>
          <a:bodyPr wrap="square" lIns="13716" rIns="13716" tIns="9144" bIns="9144" anchor="t">
            <a:spAutoFit/>
          </a:bodyPr>
          <a:lstStyle/>
          <a:p>
            <a:pPr algn="r">
              <a:spcAft>
                <a:spcPts val="0"/>
              </a:spcAft>
            </a:pPr>
            <a:r>
              <a:rPr sz="900" b="1">
                <a:solidFill>
                  <a:srgbClr val="64748B"/>
                </a:solidFill>
                <a:latin typeface="Malgun Gothic"/>
              </a:rPr>
              <a:t>CONTEXT TO EXPLANATION</a:t>
            </a:r>
          </a:p>
        </p:txBody>
      </p:sp>
      <p:sp>
        <p:nvSpPr>
          <p:cNvPr id="5" name="TextBox 4"/>
          <p:cNvSpPr txBox="1"/>
          <p:nvPr/>
        </p:nvSpPr>
        <p:spPr>
          <a:xfrm>
            <a:off x="594360" y="640080"/>
            <a:ext cx="10972800" cy="457200"/>
          </a:xfrm>
          <a:prstGeom prst="rect">
            <a:avLst/>
          </a:prstGeom>
          <a:noFill/>
        </p:spPr>
        <p:txBody>
          <a:bodyPr wrap="square" lIns="13716" rIns="13716" tIns="9144" bIns="9144" anchor="t">
            <a:spAutoFit/>
          </a:bodyPr>
          <a:lstStyle/>
          <a:p>
            <a:pPr algn="l">
              <a:spcAft>
                <a:spcPts val="0"/>
              </a:spcAft>
            </a:pPr>
            <a:r>
              <a:rPr sz="2600" b="1">
                <a:solidFill>
                  <a:srgbClr val="142B4A"/>
                </a:solidFill>
                <a:latin typeface="Malgun Gothic"/>
              </a:rPr>
              <a:t>분석 컨텍스트 기반 AI 진단 생성</a:t>
            </a:r>
          </a:p>
        </p:txBody>
      </p:sp>
      <p:sp>
        <p:nvSpPr>
          <p:cNvPr id="6" name="TextBox 5"/>
          <p:cNvSpPr txBox="1"/>
          <p:nvPr/>
        </p:nvSpPr>
        <p:spPr>
          <a:xfrm>
            <a:off x="612648" y="1188720"/>
            <a:ext cx="10972800" cy="320040"/>
          </a:xfrm>
          <a:prstGeom prst="rect">
            <a:avLst/>
          </a:prstGeom>
          <a:noFill/>
        </p:spPr>
        <p:txBody>
          <a:bodyPr wrap="square" lIns="13716" rIns="13716" tIns="9144" bIns="9144" anchor="t">
            <a:spAutoFit/>
          </a:bodyPr>
          <a:lstStyle/>
          <a:p>
            <a:pPr algn="l">
              <a:spcAft>
                <a:spcPts val="0"/>
              </a:spcAft>
            </a:pPr>
            <a:r>
              <a:rPr sz="1100" b="0">
                <a:solidFill>
                  <a:srgbClr val="64748B"/>
                </a:solidFill>
                <a:latin typeface="Malgun Gothic"/>
              </a:rPr>
              <a:t>서버는 수치와 가격을 결정하고, LLM은 분석 결과를 설명합니다.</a:t>
            </a:r>
          </a:p>
        </p:txBody>
      </p:sp>
      <p:sp>
        <p:nvSpPr>
          <p:cNvPr id="7" name="Rectangle 6"/>
          <p:cNvSpPr/>
          <p:nvPr/>
        </p:nvSpPr>
        <p:spPr>
          <a:xfrm>
            <a:off x="594360" y="1600200"/>
            <a:ext cx="1097280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78440" y="6510528"/>
            <a:ext cx="1143000" cy="164592"/>
          </a:xfrm>
          <a:prstGeom prst="rect">
            <a:avLst/>
          </a:prstGeom>
          <a:noFill/>
        </p:spPr>
        <p:txBody>
          <a:bodyPr wrap="square" lIns="13716" rIns="13716" tIns="9144" bIns="9144" anchor="t">
            <a:spAutoFit/>
          </a:bodyPr>
          <a:lstStyle/>
          <a:p>
            <a:pPr algn="r">
              <a:spcAft>
                <a:spcPts val="0"/>
              </a:spcAft>
            </a:pPr>
            <a:r>
              <a:rPr sz="800" b="1">
                <a:solidFill>
                  <a:srgbClr val="64748B"/>
                </a:solidFill>
                <a:latin typeface="Malgun Gothic"/>
              </a:rPr>
              <a:t>01  /  03</a:t>
            </a:r>
          </a:p>
        </p:txBody>
      </p:sp>
      <p:cxnSp>
        <p:nvCxnSpPr>
          <p:cNvPr id="9" name="Connector 8"/>
          <p:cNvCxnSpPr/>
          <p:nvPr/>
        </p:nvCxnSpPr>
        <p:spPr>
          <a:xfrm>
            <a:off x="1243584" y="2898648"/>
            <a:ext cx="8906256" cy="0"/>
          </a:xfrm>
          <a:prstGeom prst="line">
            <a:avLst/>
          </a:prstGeom>
          <a:ln w="38100">
            <a:solidFill>
              <a:srgbClr val="D9E7F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 y="2587752"/>
            <a:ext cx="621792" cy="621792"/>
          </a:xfrm>
          <a:prstGeom prst="roundRect">
            <a:avLst>
              <a:gd name="adj" fmla="val 8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79776"/>
            <a:ext cx="621792" cy="164592"/>
          </a:xfrm>
          <a:prstGeom prst="rect">
            <a:avLst/>
          </a:prstGeom>
          <a:noFill/>
        </p:spPr>
        <p:txBody>
          <a:bodyPr wrap="square" lIns="13716" rIns="13716" tIns="9144" bIns="9144" anchor="t">
            <a:spAutoFit/>
          </a:bodyPr>
          <a:lstStyle/>
          <a:p>
            <a:pPr algn="ctr">
              <a:spcAft>
                <a:spcPts val="0"/>
              </a:spcAft>
            </a:pPr>
            <a:r>
              <a:rPr sz="1100" b="1">
                <a:solidFill>
                  <a:srgbClr val="FFFFFF"/>
                </a:solidFill>
                <a:latin typeface="Malgun Gothic"/>
              </a:rPr>
              <a:t>01</a:t>
            </a:r>
          </a:p>
        </p:txBody>
      </p:sp>
      <p:sp>
        <p:nvSpPr>
          <p:cNvPr id="12" name="TextBox 11"/>
          <p:cNvSpPr txBox="1"/>
          <p:nvPr/>
        </p:nvSpPr>
        <p:spPr>
          <a:xfrm>
            <a:off x="713232" y="3511296"/>
            <a:ext cx="2057400" cy="283464"/>
          </a:xfrm>
          <a:prstGeom prst="rect">
            <a:avLst/>
          </a:prstGeom>
          <a:noFill/>
        </p:spPr>
        <p:txBody>
          <a:bodyPr wrap="square" lIns="13716" rIns="13716" tIns="9144" bIns="9144" anchor="t">
            <a:spAutoFit/>
          </a:bodyPr>
          <a:lstStyle/>
          <a:p>
            <a:pPr algn="l">
              <a:spcAft>
                <a:spcPts val="0"/>
              </a:spcAft>
            </a:pPr>
            <a:r>
              <a:rPr sz="1400" b="1">
                <a:solidFill>
                  <a:srgbClr val="142B4A"/>
                </a:solidFill>
                <a:latin typeface="Malgun Gothic"/>
              </a:rPr>
              <a:t>분석 컨텍스트</a:t>
            </a:r>
          </a:p>
        </p:txBody>
      </p:sp>
      <p:sp>
        <p:nvSpPr>
          <p:cNvPr id="13" name="TextBox 12"/>
          <p:cNvSpPr txBox="1"/>
          <p:nvPr/>
        </p:nvSpPr>
        <p:spPr>
          <a:xfrm>
            <a:off x="713232" y="3913632"/>
            <a:ext cx="2057400" cy="502920"/>
          </a:xfrm>
          <a:prstGeom prst="rect">
            <a:avLst/>
          </a:prstGeom>
          <a:noFill/>
        </p:spPr>
        <p:txBody>
          <a:bodyPr wrap="square" lIns="13716" rIns="13716" tIns="9144" bIns="9144" anchor="t">
            <a:spAutoFit/>
          </a:bodyPr>
          <a:lstStyle/>
          <a:p>
            <a:pPr algn="l">
              <a:spcAft>
                <a:spcPts val="0"/>
              </a:spcAft>
            </a:pPr>
            <a:r>
              <a:rPr sz="1000" b="0">
                <a:solidFill>
                  <a:srgbClr val="64748B"/>
                </a:solidFill>
                <a:latin typeface="Malgun Gothic"/>
              </a:rPr>
              <a:t>서버 지표와
데이터 품질</a:t>
            </a:r>
          </a:p>
        </p:txBody>
      </p:sp>
      <p:sp>
        <p:nvSpPr>
          <p:cNvPr id="14" name="Rounded Rectangle 13"/>
          <p:cNvSpPr/>
          <p:nvPr/>
        </p:nvSpPr>
        <p:spPr>
          <a:xfrm>
            <a:off x="3657600" y="2587752"/>
            <a:ext cx="621792" cy="621792"/>
          </a:xfrm>
          <a:prstGeom prst="roundRect">
            <a:avLst>
              <a:gd name="adj" fmla="val 8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2779776"/>
            <a:ext cx="621792" cy="164592"/>
          </a:xfrm>
          <a:prstGeom prst="rect">
            <a:avLst/>
          </a:prstGeom>
          <a:noFill/>
        </p:spPr>
        <p:txBody>
          <a:bodyPr wrap="square" lIns="13716" rIns="13716" tIns="9144" bIns="9144" anchor="t">
            <a:spAutoFit/>
          </a:bodyPr>
          <a:lstStyle/>
          <a:p>
            <a:pPr algn="ctr">
              <a:spcAft>
                <a:spcPts val="0"/>
              </a:spcAft>
            </a:pPr>
            <a:r>
              <a:rPr sz="1100" b="1">
                <a:solidFill>
                  <a:srgbClr val="FFFFFF"/>
                </a:solidFill>
                <a:latin typeface="Malgun Gothic"/>
              </a:rPr>
              <a:t>02</a:t>
            </a:r>
          </a:p>
        </p:txBody>
      </p:sp>
      <p:sp>
        <p:nvSpPr>
          <p:cNvPr id="16" name="TextBox 15"/>
          <p:cNvSpPr txBox="1"/>
          <p:nvPr/>
        </p:nvSpPr>
        <p:spPr>
          <a:xfrm>
            <a:off x="3456432" y="3511296"/>
            <a:ext cx="2057400" cy="283464"/>
          </a:xfrm>
          <a:prstGeom prst="rect">
            <a:avLst/>
          </a:prstGeom>
          <a:noFill/>
        </p:spPr>
        <p:txBody>
          <a:bodyPr wrap="square" lIns="13716" rIns="13716" tIns="9144" bIns="9144" anchor="t">
            <a:spAutoFit/>
          </a:bodyPr>
          <a:lstStyle/>
          <a:p>
            <a:pPr algn="l">
              <a:spcAft>
                <a:spcPts val="0"/>
              </a:spcAft>
            </a:pPr>
            <a:r>
              <a:rPr sz="1400" b="1">
                <a:solidFill>
                  <a:srgbClr val="142B4A"/>
                </a:solidFill>
                <a:latin typeface="Malgun Gothic"/>
              </a:rPr>
              <a:t>프롬프트 구성</a:t>
            </a:r>
          </a:p>
        </p:txBody>
      </p:sp>
      <p:sp>
        <p:nvSpPr>
          <p:cNvPr id="17" name="TextBox 16"/>
          <p:cNvSpPr txBox="1"/>
          <p:nvPr/>
        </p:nvSpPr>
        <p:spPr>
          <a:xfrm>
            <a:off x="3456432" y="3913632"/>
            <a:ext cx="2057400" cy="502920"/>
          </a:xfrm>
          <a:prstGeom prst="rect">
            <a:avLst/>
          </a:prstGeom>
          <a:noFill/>
        </p:spPr>
        <p:txBody>
          <a:bodyPr wrap="square" lIns="13716" rIns="13716" tIns="9144" bIns="9144" anchor="t">
            <a:spAutoFit/>
          </a:bodyPr>
          <a:lstStyle/>
          <a:p>
            <a:pPr algn="l">
              <a:spcAft>
                <a:spcPts val="0"/>
              </a:spcAft>
            </a:pPr>
            <a:r>
              <a:rPr sz="1000" b="0">
                <a:solidFill>
                  <a:srgbClr val="64748B"/>
                </a:solidFill>
                <a:latin typeface="Malgun Gothic"/>
              </a:rPr>
              <a:t>역할·근거 범위와
JSON 입력</a:t>
            </a:r>
          </a:p>
        </p:txBody>
      </p:sp>
      <p:sp>
        <p:nvSpPr>
          <p:cNvPr id="18" name="Rounded Rectangle 17"/>
          <p:cNvSpPr/>
          <p:nvPr/>
        </p:nvSpPr>
        <p:spPr>
          <a:xfrm>
            <a:off x="6400800" y="2587752"/>
            <a:ext cx="621792" cy="621792"/>
          </a:xfrm>
          <a:prstGeom prst="roundRect">
            <a:avLst>
              <a:gd name="adj" fmla="val 8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779776"/>
            <a:ext cx="621792" cy="164592"/>
          </a:xfrm>
          <a:prstGeom prst="rect">
            <a:avLst/>
          </a:prstGeom>
          <a:noFill/>
        </p:spPr>
        <p:txBody>
          <a:bodyPr wrap="square" lIns="13716" rIns="13716" tIns="9144" bIns="9144" anchor="t">
            <a:spAutoFit/>
          </a:bodyPr>
          <a:lstStyle/>
          <a:p>
            <a:pPr algn="ctr">
              <a:spcAft>
                <a:spcPts val="0"/>
              </a:spcAft>
            </a:pPr>
            <a:r>
              <a:rPr sz="1100" b="1">
                <a:solidFill>
                  <a:srgbClr val="FFFFFF"/>
                </a:solidFill>
                <a:latin typeface="Malgun Gothic"/>
              </a:rPr>
              <a:t>03</a:t>
            </a:r>
          </a:p>
        </p:txBody>
      </p:sp>
      <p:sp>
        <p:nvSpPr>
          <p:cNvPr id="20" name="TextBox 19"/>
          <p:cNvSpPr txBox="1"/>
          <p:nvPr/>
        </p:nvSpPr>
        <p:spPr>
          <a:xfrm>
            <a:off x="6199632" y="3511296"/>
            <a:ext cx="2057400" cy="283464"/>
          </a:xfrm>
          <a:prstGeom prst="rect">
            <a:avLst/>
          </a:prstGeom>
          <a:noFill/>
        </p:spPr>
        <p:txBody>
          <a:bodyPr wrap="square" lIns="13716" rIns="13716" tIns="9144" bIns="9144" anchor="t">
            <a:spAutoFit/>
          </a:bodyPr>
          <a:lstStyle/>
          <a:p>
            <a:pPr algn="l">
              <a:spcAft>
                <a:spcPts val="0"/>
              </a:spcAft>
            </a:pPr>
            <a:r>
              <a:rPr sz="1400" b="1">
                <a:solidFill>
                  <a:srgbClr val="142B4A"/>
                </a:solidFill>
                <a:latin typeface="Malgun Gothic"/>
              </a:rPr>
              <a:t>LLM 생성</a:t>
            </a:r>
          </a:p>
        </p:txBody>
      </p:sp>
      <p:sp>
        <p:nvSpPr>
          <p:cNvPr id="21" name="TextBox 20"/>
          <p:cNvSpPr txBox="1"/>
          <p:nvPr/>
        </p:nvSpPr>
        <p:spPr>
          <a:xfrm>
            <a:off x="6199632" y="3913632"/>
            <a:ext cx="2057400" cy="502920"/>
          </a:xfrm>
          <a:prstGeom prst="rect">
            <a:avLst/>
          </a:prstGeom>
          <a:noFill/>
        </p:spPr>
        <p:txBody>
          <a:bodyPr wrap="square" lIns="13716" rIns="13716" tIns="9144" bIns="9144" anchor="t">
            <a:spAutoFit/>
          </a:bodyPr>
          <a:lstStyle/>
          <a:p>
            <a:pPr algn="l">
              <a:spcAft>
                <a:spcPts val="0"/>
              </a:spcAft>
            </a:pPr>
            <a:r>
              <a:rPr sz="1000" b="0">
                <a:solidFill>
                  <a:srgbClr val="64748B"/>
                </a:solidFill>
                <a:latin typeface="Malgun Gothic"/>
              </a:rPr>
              <a:t>gpt-4o-mini가
설명 문장 생성</a:t>
            </a:r>
          </a:p>
        </p:txBody>
      </p:sp>
      <p:sp>
        <p:nvSpPr>
          <p:cNvPr id="22" name="Rounded Rectangle 21"/>
          <p:cNvSpPr/>
          <p:nvPr/>
        </p:nvSpPr>
        <p:spPr>
          <a:xfrm>
            <a:off x="9144000" y="2587752"/>
            <a:ext cx="621792" cy="621792"/>
          </a:xfrm>
          <a:prstGeom prst="roundRect">
            <a:avLst>
              <a:gd name="adj" fmla="val 8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2779776"/>
            <a:ext cx="621792" cy="164592"/>
          </a:xfrm>
          <a:prstGeom prst="rect">
            <a:avLst/>
          </a:prstGeom>
          <a:noFill/>
        </p:spPr>
        <p:txBody>
          <a:bodyPr wrap="square" lIns="13716" rIns="13716" tIns="9144" bIns="9144" anchor="t">
            <a:spAutoFit/>
          </a:bodyPr>
          <a:lstStyle/>
          <a:p>
            <a:pPr algn="ctr">
              <a:spcAft>
                <a:spcPts val="0"/>
              </a:spcAft>
            </a:pPr>
            <a:r>
              <a:rPr sz="1100" b="1">
                <a:solidFill>
                  <a:srgbClr val="FFFFFF"/>
                </a:solidFill>
                <a:latin typeface="Malgun Gothic"/>
              </a:rPr>
              <a:t>04</a:t>
            </a:r>
          </a:p>
        </p:txBody>
      </p:sp>
      <p:sp>
        <p:nvSpPr>
          <p:cNvPr id="24" name="TextBox 23"/>
          <p:cNvSpPr txBox="1"/>
          <p:nvPr/>
        </p:nvSpPr>
        <p:spPr>
          <a:xfrm>
            <a:off x="8942832" y="3511296"/>
            <a:ext cx="2057400" cy="283464"/>
          </a:xfrm>
          <a:prstGeom prst="rect">
            <a:avLst/>
          </a:prstGeom>
          <a:noFill/>
        </p:spPr>
        <p:txBody>
          <a:bodyPr wrap="square" lIns="13716" rIns="13716" tIns="9144" bIns="9144" anchor="t">
            <a:spAutoFit/>
          </a:bodyPr>
          <a:lstStyle/>
          <a:p>
            <a:pPr algn="l">
              <a:spcAft>
                <a:spcPts val="0"/>
              </a:spcAft>
            </a:pPr>
            <a:r>
              <a:rPr sz="1400" b="1">
                <a:solidFill>
                  <a:srgbClr val="142B4A"/>
                </a:solidFill>
                <a:latin typeface="Malgun Gothic"/>
              </a:rPr>
              <a:t>진단 결과</a:t>
            </a:r>
          </a:p>
        </p:txBody>
      </p:sp>
      <p:sp>
        <p:nvSpPr>
          <p:cNvPr id="25" name="TextBox 24"/>
          <p:cNvSpPr txBox="1"/>
          <p:nvPr/>
        </p:nvSpPr>
        <p:spPr>
          <a:xfrm>
            <a:off x="8942832" y="3913632"/>
            <a:ext cx="2057400" cy="502920"/>
          </a:xfrm>
          <a:prstGeom prst="rect">
            <a:avLst/>
          </a:prstGeom>
          <a:noFill/>
        </p:spPr>
        <p:txBody>
          <a:bodyPr wrap="square" lIns="13716" rIns="13716" tIns="9144" bIns="9144" anchor="t">
            <a:spAutoFit/>
          </a:bodyPr>
          <a:lstStyle/>
          <a:p>
            <a:pPr algn="l">
              <a:spcAft>
                <a:spcPts val="0"/>
              </a:spcAft>
            </a:pPr>
            <a:r>
              <a:rPr sz="1000" b="0">
                <a:solidFill>
                  <a:srgbClr val="64748B"/>
                </a:solidFill>
                <a:latin typeface="Malgun Gothic"/>
              </a:rPr>
              <a:t>근거 설명과
확인 제안</a:t>
            </a:r>
          </a:p>
        </p:txBody>
      </p:sp>
      <p:sp>
        <p:nvSpPr>
          <p:cNvPr id="26" name="TextBox 25"/>
          <p:cNvSpPr txBox="1"/>
          <p:nvPr/>
        </p:nvSpPr>
        <p:spPr>
          <a:xfrm>
            <a:off x="640080" y="4645152"/>
            <a:ext cx="10881360" cy="182880"/>
          </a:xfrm>
          <a:prstGeom prst="rect">
            <a:avLst/>
          </a:prstGeom>
          <a:noFill/>
        </p:spPr>
        <p:txBody>
          <a:bodyPr wrap="square" lIns="13716" rIns="13716" tIns="9144" bIns="9144" anchor="t">
            <a:spAutoFit/>
          </a:bodyPr>
          <a:lstStyle/>
          <a:p>
            <a:pPr algn="ctr">
              <a:spcAft>
                <a:spcPts val="0"/>
              </a:spcAft>
            </a:pPr>
            <a:r>
              <a:rPr sz="1000" b="1">
                <a:solidFill>
                  <a:srgbClr val="2563EB"/>
                </a:solidFill>
                <a:latin typeface="Malgun Gothic"/>
              </a:rPr>
              <a:t>컨텍스트 구성  →  응답 생성  →  결과 검증</a:t>
            </a:r>
          </a:p>
        </p:txBody>
      </p:sp>
      <p:sp>
        <p:nvSpPr>
          <p:cNvPr id="27" name="Rectangle 26"/>
          <p:cNvSpPr/>
          <p:nvPr/>
        </p:nvSpPr>
        <p:spPr>
          <a:xfrm>
            <a:off x="621792" y="5029200"/>
            <a:ext cx="5321808" cy="7132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193792"/>
            <a:ext cx="1481328" cy="164592"/>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SERVER  /  결정</a:t>
            </a:r>
          </a:p>
        </p:txBody>
      </p:sp>
      <p:sp>
        <p:nvSpPr>
          <p:cNvPr id="29" name="TextBox 28"/>
          <p:cNvSpPr txBox="1"/>
          <p:nvPr/>
        </p:nvSpPr>
        <p:spPr>
          <a:xfrm>
            <a:off x="859536" y="5431536"/>
            <a:ext cx="4663440" cy="182880"/>
          </a:xfrm>
          <a:prstGeom prst="rect">
            <a:avLst/>
          </a:prstGeom>
          <a:noFill/>
        </p:spPr>
        <p:txBody>
          <a:bodyPr wrap="square" lIns="13716" rIns="13716" tIns="9144" bIns="9144" anchor="t">
            <a:spAutoFit/>
          </a:bodyPr>
          <a:lstStyle/>
          <a:p>
            <a:pPr algn="l">
              <a:spcAft>
                <a:spcPts val="0"/>
              </a:spcAft>
            </a:pPr>
            <a:r>
              <a:rPr sz="1000" b="1">
                <a:solidFill>
                  <a:srgbClr val="142B4A"/>
                </a:solidFill>
                <a:latin typeface="Malgun Gothic"/>
              </a:rPr>
              <a:t>위험 등급 · 위험 점수 · 할인율 · 추천가격</a:t>
            </a:r>
          </a:p>
        </p:txBody>
      </p:sp>
      <p:sp>
        <p:nvSpPr>
          <p:cNvPr id="30" name="Rectangle 29"/>
          <p:cNvSpPr/>
          <p:nvPr/>
        </p:nvSpPr>
        <p:spPr>
          <a:xfrm>
            <a:off x="6236208" y="5029200"/>
            <a:ext cx="5321808" cy="713232"/>
          </a:xfrm>
          <a:prstGeom prst="rect">
            <a:avLst/>
          </a:prstGeom>
          <a:solidFill>
            <a:srgbClr val="14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5193792"/>
            <a:ext cx="1371600" cy="164592"/>
          </a:xfrm>
          <a:prstGeom prst="rect">
            <a:avLst/>
          </a:prstGeom>
          <a:noFill/>
        </p:spPr>
        <p:txBody>
          <a:bodyPr wrap="square" lIns="13716" rIns="13716" tIns="9144" bIns="9144" anchor="t">
            <a:spAutoFit/>
          </a:bodyPr>
          <a:lstStyle/>
          <a:p>
            <a:pPr algn="l">
              <a:spcAft>
                <a:spcPts val="0"/>
              </a:spcAft>
            </a:pPr>
            <a:r>
              <a:rPr sz="900" b="1">
                <a:solidFill>
                  <a:srgbClr val="AFC5F5"/>
                </a:solidFill>
                <a:latin typeface="Malgun Gothic"/>
              </a:rPr>
              <a:t>LLM  /  생성</a:t>
            </a:r>
          </a:p>
        </p:txBody>
      </p:sp>
      <p:sp>
        <p:nvSpPr>
          <p:cNvPr id="32" name="TextBox 31"/>
          <p:cNvSpPr txBox="1"/>
          <p:nvPr/>
        </p:nvSpPr>
        <p:spPr>
          <a:xfrm>
            <a:off x="6473952" y="5431536"/>
            <a:ext cx="4681728" cy="182880"/>
          </a:xfrm>
          <a:prstGeom prst="rect">
            <a:avLst/>
          </a:prstGeom>
          <a:noFill/>
        </p:spPr>
        <p:txBody>
          <a:bodyPr wrap="square" lIns="13716" rIns="13716" tIns="9144" bIns="9144" anchor="t">
            <a:spAutoFit/>
          </a:bodyPr>
          <a:lstStyle/>
          <a:p>
            <a:pPr algn="l">
              <a:spcAft>
                <a:spcPts val="0"/>
              </a:spcAft>
            </a:pPr>
            <a:r>
              <a:rPr sz="1000" b="1">
                <a:solidFill>
                  <a:srgbClr val="FFFFFF"/>
                </a:solidFill>
                <a:latin typeface="Malgun Gothic"/>
              </a:rPr>
              <a:t>근거 설명 · 사용자가 확인할 항목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3108960"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STOCKCLEAR  /  LLM</a:t>
            </a:r>
          </a:p>
        </p:txBody>
      </p:sp>
      <p:sp>
        <p:nvSpPr>
          <p:cNvPr id="4" name="TextBox 3"/>
          <p:cNvSpPr txBox="1"/>
          <p:nvPr/>
        </p:nvSpPr>
        <p:spPr>
          <a:xfrm>
            <a:off x="8321040" y="256032"/>
            <a:ext cx="3246120" cy="182880"/>
          </a:xfrm>
          <a:prstGeom prst="rect">
            <a:avLst/>
          </a:prstGeom>
          <a:noFill/>
        </p:spPr>
        <p:txBody>
          <a:bodyPr wrap="square" lIns="13716" rIns="13716" tIns="9144" bIns="9144" anchor="t">
            <a:spAutoFit/>
          </a:bodyPr>
          <a:lstStyle/>
          <a:p>
            <a:pPr algn="r">
              <a:spcAft>
                <a:spcPts val="0"/>
              </a:spcAft>
            </a:pPr>
            <a:r>
              <a:rPr sz="900" b="1">
                <a:solidFill>
                  <a:srgbClr val="64748B"/>
                </a:solidFill>
                <a:latin typeface="Malgun Gothic"/>
              </a:rPr>
              <a:t>PROMPT ROLES</a:t>
            </a:r>
          </a:p>
        </p:txBody>
      </p:sp>
      <p:sp>
        <p:nvSpPr>
          <p:cNvPr id="5" name="TextBox 4"/>
          <p:cNvSpPr txBox="1"/>
          <p:nvPr/>
        </p:nvSpPr>
        <p:spPr>
          <a:xfrm>
            <a:off x="594360" y="640080"/>
            <a:ext cx="10972800" cy="457200"/>
          </a:xfrm>
          <a:prstGeom prst="rect">
            <a:avLst/>
          </a:prstGeom>
          <a:noFill/>
        </p:spPr>
        <p:txBody>
          <a:bodyPr wrap="square" lIns="13716" rIns="13716" tIns="9144" bIns="9144" anchor="t">
            <a:spAutoFit/>
          </a:bodyPr>
          <a:lstStyle/>
          <a:p>
            <a:pPr algn="l">
              <a:spcAft>
                <a:spcPts val="0"/>
              </a:spcAft>
            </a:pPr>
            <a:r>
              <a:rPr sz="2600" b="1">
                <a:solidFill>
                  <a:srgbClr val="142B4A"/>
                </a:solidFill>
                <a:latin typeface="Malgun Gothic"/>
              </a:rPr>
              <a:t>System은 원칙, User는 분석 데이터</a:t>
            </a:r>
          </a:p>
        </p:txBody>
      </p:sp>
      <p:sp>
        <p:nvSpPr>
          <p:cNvPr id="6" name="TextBox 5"/>
          <p:cNvSpPr txBox="1"/>
          <p:nvPr/>
        </p:nvSpPr>
        <p:spPr>
          <a:xfrm>
            <a:off x="612648" y="1188720"/>
            <a:ext cx="10972800" cy="320040"/>
          </a:xfrm>
          <a:prstGeom prst="rect">
            <a:avLst/>
          </a:prstGeom>
          <a:noFill/>
        </p:spPr>
        <p:txBody>
          <a:bodyPr wrap="square" lIns="13716" rIns="13716" tIns="9144" bIns="9144" anchor="t">
            <a:spAutoFit/>
          </a:bodyPr>
          <a:lstStyle/>
          <a:p>
            <a:pPr algn="l">
              <a:spcAft>
                <a:spcPts val="0"/>
              </a:spcAft>
            </a:pPr>
            <a:r>
              <a:rPr sz="1100" b="0">
                <a:solidFill>
                  <a:srgbClr val="64748B"/>
                </a:solidFill>
                <a:latin typeface="Malgun Gothic"/>
              </a:rPr>
              <a:t>두 메시지를 분리하고, 생성 결과는 구조와 입력 근거를 검증합니다.</a:t>
            </a:r>
          </a:p>
        </p:txBody>
      </p:sp>
      <p:sp>
        <p:nvSpPr>
          <p:cNvPr id="7" name="Rectangle 6"/>
          <p:cNvSpPr/>
          <p:nvPr/>
        </p:nvSpPr>
        <p:spPr>
          <a:xfrm>
            <a:off x="594360" y="1600200"/>
            <a:ext cx="1097280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78440" y="6510528"/>
            <a:ext cx="1143000" cy="164592"/>
          </a:xfrm>
          <a:prstGeom prst="rect">
            <a:avLst/>
          </a:prstGeom>
          <a:noFill/>
        </p:spPr>
        <p:txBody>
          <a:bodyPr wrap="square" lIns="13716" rIns="13716" tIns="9144" bIns="9144" anchor="t">
            <a:spAutoFit/>
          </a:bodyPr>
          <a:lstStyle/>
          <a:p>
            <a:pPr algn="r">
              <a:spcAft>
                <a:spcPts val="0"/>
              </a:spcAft>
            </a:pPr>
            <a:r>
              <a:rPr sz="800" b="1">
                <a:solidFill>
                  <a:srgbClr val="64748B"/>
                </a:solidFill>
                <a:latin typeface="Malgun Gothic"/>
              </a:rPr>
              <a:t>02  /  03</a:t>
            </a:r>
          </a:p>
        </p:txBody>
      </p:sp>
      <p:sp>
        <p:nvSpPr>
          <p:cNvPr id="9" name="Rectangle 8"/>
          <p:cNvSpPr/>
          <p:nvPr/>
        </p:nvSpPr>
        <p:spPr>
          <a:xfrm>
            <a:off x="621792" y="1938528"/>
            <a:ext cx="5321808" cy="19659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938528"/>
            <a:ext cx="73152" cy="1965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212848"/>
            <a:ext cx="4526280" cy="173736"/>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SYSTEM  /  실제 프롬프트 발췌</a:t>
            </a:r>
          </a:p>
        </p:txBody>
      </p:sp>
      <p:sp>
        <p:nvSpPr>
          <p:cNvPr id="12" name="TextBox 11"/>
          <p:cNvSpPr txBox="1"/>
          <p:nvPr/>
        </p:nvSpPr>
        <p:spPr>
          <a:xfrm>
            <a:off x="896112" y="2679192"/>
            <a:ext cx="4663440" cy="274320"/>
          </a:xfrm>
          <a:prstGeom prst="rect">
            <a:avLst/>
          </a:prstGeom>
          <a:noFill/>
        </p:spPr>
        <p:txBody>
          <a:bodyPr wrap="square" lIns="13716" rIns="13716" tIns="9144" bIns="9144" anchor="t">
            <a:spAutoFit/>
          </a:bodyPr>
          <a:lstStyle/>
          <a:p>
            <a:pPr algn="l">
              <a:spcAft>
                <a:spcPts val="0"/>
              </a:spcAft>
            </a:pPr>
            <a:r>
              <a:rPr sz="1400" b="1">
                <a:solidFill>
                  <a:srgbClr val="142B4A"/>
                </a:solidFill>
                <a:latin typeface="Malgun Gothic"/>
              </a:rPr>
              <a:t>서버 결정값은 변경하지 않음</a:t>
            </a:r>
          </a:p>
        </p:txBody>
      </p:sp>
      <p:sp>
        <p:nvSpPr>
          <p:cNvPr id="13" name="TextBox 12"/>
          <p:cNvSpPr txBox="1"/>
          <p:nvPr/>
        </p:nvSpPr>
        <p:spPr>
          <a:xfrm>
            <a:off x="896112" y="3099816"/>
            <a:ext cx="4617720" cy="621792"/>
          </a:xfrm>
          <a:prstGeom prst="rect">
            <a:avLst/>
          </a:prstGeom>
          <a:noFill/>
        </p:spPr>
        <p:txBody>
          <a:bodyPr wrap="square" lIns="13716" rIns="13716" tIns="9144" bIns="9144" anchor="t">
            <a:spAutoFit/>
          </a:bodyPr>
          <a:lstStyle/>
          <a:p>
            <a:pPr algn="l">
              <a:spcAft>
                <a:spcPts val="0"/>
              </a:spcAft>
            </a:pPr>
            <a:r>
              <a:rPr sz="1100" b="0">
                <a:solidFill>
                  <a:srgbClr val="142B4A"/>
                </a:solidFill>
                <a:latin typeface="Malgun Gothic"/>
              </a:rPr>
              <a:t>“서버가 제공한 등급·점수·가격은
확정값이므로 변경하거나 새로 계산하지 마세요.”</a:t>
            </a:r>
          </a:p>
        </p:txBody>
      </p:sp>
      <p:sp>
        <p:nvSpPr>
          <p:cNvPr id="14" name="Rectangle 13"/>
          <p:cNvSpPr/>
          <p:nvPr/>
        </p:nvSpPr>
        <p:spPr>
          <a:xfrm>
            <a:off x="6236208" y="1938528"/>
            <a:ext cx="5321808" cy="1965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938528"/>
            <a:ext cx="73152" cy="1965960"/>
          </a:xfrm>
          <a:prstGeom prst="rect">
            <a:avLst/>
          </a:prstGeom>
          <a:solidFill>
            <a:srgbClr val="14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2212848"/>
            <a:ext cx="4526280" cy="173736"/>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USER  /  이번 분석의 JSON 입력</a:t>
            </a:r>
          </a:p>
        </p:txBody>
      </p:sp>
      <p:sp>
        <p:nvSpPr>
          <p:cNvPr id="17" name="TextBox 16"/>
          <p:cNvSpPr txBox="1"/>
          <p:nvPr/>
        </p:nvSpPr>
        <p:spPr>
          <a:xfrm>
            <a:off x="6510528" y="2633472"/>
            <a:ext cx="4617720" cy="219456"/>
          </a:xfrm>
          <a:prstGeom prst="rect">
            <a:avLst/>
          </a:prstGeom>
          <a:noFill/>
        </p:spPr>
        <p:txBody>
          <a:bodyPr wrap="square" lIns="13716" rIns="13716" tIns="9144" bIns="9144" anchor="t">
            <a:spAutoFit/>
          </a:bodyPr>
          <a:lstStyle/>
          <a:p>
            <a:pPr algn="l">
              <a:spcAft>
                <a:spcPts val="0"/>
              </a:spcAft>
            </a:pPr>
            <a:r>
              <a:rPr sz="1100" b="1">
                <a:solidFill>
                  <a:srgbClr val="142B4A"/>
                </a:solidFill>
                <a:latin typeface="Malgun Gothic"/>
              </a:rPr>
              <a:t>더미 판매·실제 주문 자료 유무를 함께 전달</a:t>
            </a:r>
          </a:p>
        </p:txBody>
      </p:sp>
      <p:sp>
        <p:nvSpPr>
          <p:cNvPr id="18" name="TextBox 17"/>
          <p:cNvSpPr txBox="1"/>
          <p:nvPr/>
        </p:nvSpPr>
        <p:spPr>
          <a:xfrm>
            <a:off x="6510528" y="2926080"/>
            <a:ext cx="4663440" cy="877824"/>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Cascadia Mono"/>
              </a:rPr>
              <a:t>{
  "analysis": {"risk_grade": "주의"},
  "data_quality": {"daily_sales_is_demo": true,
                    "actual_order_history_available": false}
}</a:t>
            </a:r>
          </a:p>
        </p:txBody>
      </p:sp>
      <p:sp>
        <p:nvSpPr>
          <p:cNvPr id="19" name="TextBox 18"/>
          <p:cNvSpPr txBox="1"/>
          <p:nvPr/>
        </p:nvSpPr>
        <p:spPr>
          <a:xfrm>
            <a:off x="658368" y="4160520"/>
            <a:ext cx="1371600" cy="201168"/>
          </a:xfrm>
          <a:prstGeom prst="rect">
            <a:avLst/>
          </a:prstGeom>
          <a:noFill/>
        </p:spPr>
        <p:txBody>
          <a:bodyPr wrap="square" lIns="13716" rIns="13716" tIns="9144" bIns="9144" anchor="t">
            <a:spAutoFit/>
          </a:bodyPr>
          <a:lstStyle/>
          <a:p>
            <a:pPr algn="l">
              <a:spcAft>
                <a:spcPts val="0"/>
              </a:spcAft>
            </a:pPr>
            <a:r>
              <a:rPr sz="1000" b="1">
                <a:solidFill>
                  <a:srgbClr val="64748B"/>
                </a:solidFill>
                <a:latin typeface="Malgun Gothic"/>
              </a:rPr>
              <a:t>응답 검증</a:t>
            </a:r>
          </a:p>
        </p:txBody>
      </p:sp>
      <p:sp>
        <p:nvSpPr>
          <p:cNvPr id="20" name="TextBox 19"/>
          <p:cNvSpPr txBox="1"/>
          <p:nvPr/>
        </p:nvSpPr>
        <p:spPr>
          <a:xfrm>
            <a:off x="2029968" y="4462272"/>
            <a:ext cx="2606040" cy="219456"/>
          </a:xfrm>
          <a:prstGeom prst="rect">
            <a:avLst/>
          </a:prstGeom>
          <a:noFill/>
        </p:spPr>
        <p:txBody>
          <a:bodyPr wrap="square" lIns="13716" rIns="13716" tIns="9144" bIns="9144" anchor="t">
            <a:spAutoFit/>
          </a:bodyPr>
          <a:lstStyle/>
          <a:p>
            <a:pPr algn="l">
              <a:spcAft>
                <a:spcPts val="0"/>
              </a:spcAft>
            </a:pPr>
            <a:r>
              <a:rPr sz="1100" b="1">
                <a:solidFill>
                  <a:srgbClr val="2563EB"/>
                </a:solidFill>
                <a:latin typeface="Malgun Gothic"/>
              </a:rPr>
              <a:t>01  구조 검증</a:t>
            </a:r>
          </a:p>
        </p:txBody>
      </p:sp>
      <p:sp>
        <p:nvSpPr>
          <p:cNvPr id="21" name="TextBox 20"/>
          <p:cNvSpPr txBox="1"/>
          <p:nvPr/>
        </p:nvSpPr>
        <p:spPr>
          <a:xfrm>
            <a:off x="2029968" y="4791456"/>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22" name="TextBox 21"/>
          <p:cNvSpPr txBox="1"/>
          <p:nvPr/>
        </p:nvSpPr>
        <p:spPr>
          <a:xfrm>
            <a:off x="2194560" y="4791456"/>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JSON 파싱 성공</a:t>
            </a:r>
          </a:p>
        </p:txBody>
      </p:sp>
      <p:sp>
        <p:nvSpPr>
          <p:cNvPr id="23" name="TextBox 22"/>
          <p:cNvSpPr txBox="1"/>
          <p:nvPr/>
        </p:nvSpPr>
        <p:spPr>
          <a:xfrm>
            <a:off x="2029968" y="5038344"/>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24" name="TextBox 23"/>
          <p:cNvSpPr txBox="1"/>
          <p:nvPr/>
        </p:nvSpPr>
        <p:spPr>
          <a:xfrm>
            <a:off x="2194560" y="5038344"/>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Pydantic 필드·타입·문자열 길이</a:t>
            </a:r>
          </a:p>
        </p:txBody>
      </p:sp>
      <p:sp>
        <p:nvSpPr>
          <p:cNvPr id="25" name="TextBox 24"/>
          <p:cNvSpPr txBox="1"/>
          <p:nvPr/>
        </p:nvSpPr>
        <p:spPr>
          <a:xfrm>
            <a:off x="2029968" y="5285232"/>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26" name="TextBox 25"/>
          <p:cNvSpPr txBox="1"/>
          <p:nvPr/>
        </p:nvSpPr>
        <p:spPr>
          <a:xfrm>
            <a:off x="2194560" y="5285232"/>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추가 필드 거부 (extra=forbid)</a:t>
            </a:r>
          </a:p>
        </p:txBody>
      </p:sp>
      <p:sp>
        <p:nvSpPr>
          <p:cNvPr id="27" name="TextBox 26"/>
          <p:cNvSpPr txBox="1"/>
          <p:nvPr/>
        </p:nvSpPr>
        <p:spPr>
          <a:xfrm>
            <a:off x="5715000" y="4462272"/>
            <a:ext cx="2606040" cy="219456"/>
          </a:xfrm>
          <a:prstGeom prst="rect">
            <a:avLst/>
          </a:prstGeom>
          <a:noFill/>
        </p:spPr>
        <p:txBody>
          <a:bodyPr wrap="square" lIns="13716" rIns="13716" tIns="9144" bIns="9144" anchor="t">
            <a:spAutoFit/>
          </a:bodyPr>
          <a:lstStyle/>
          <a:p>
            <a:pPr algn="l">
              <a:spcAft>
                <a:spcPts val="0"/>
              </a:spcAft>
            </a:pPr>
            <a:r>
              <a:rPr sz="1100" b="1">
                <a:solidFill>
                  <a:srgbClr val="2563EB"/>
                </a:solidFill>
                <a:latin typeface="Malgun Gothic"/>
              </a:rPr>
              <a:t>02  근거 검증</a:t>
            </a:r>
          </a:p>
        </p:txBody>
      </p:sp>
      <p:sp>
        <p:nvSpPr>
          <p:cNvPr id="28" name="TextBox 27"/>
          <p:cNvSpPr txBox="1"/>
          <p:nvPr/>
        </p:nvSpPr>
        <p:spPr>
          <a:xfrm>
            <a:off x="5715000" y="4791456"/>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29" name="TextBox 28"/>
          <p:cNvSpPr txBox="1"/>
          <p:nvPr/>
        </p:nvSpPr>
        <p:spPr>
          <a:xfrm>
            <a:off x="5879592" y="4791456"/>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metric-ref 정의 쌍인지 확인</a:t>
            </a:r>
          </a:p>
        </p:txBody>
      </p:sp>
      <p:sp>
        <p:nvSpPr>
          <p:cNvPr id="30" name="TextBox 29"/>
          <p:cNvSpPr txBox="1"/>
          <p:nvPr/>
        </p:nvSpPr>
        <p:spPr>
          <a:xfrm>
            <a:off x="5715000" y="5038344"/>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31" name="TextBox 30"/>
          <p:cNvSpPr txBox="1"/>
          <p:nvPr/>
        </p:nvSpPr>
        <p:spPr>
          <a:xfrm>
            <a:off x="5879592" y="5038344"/>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입력 경로 존재·중복 여부</a:t>
            </a:r>
          </a:p>
        </p:txBody>
      </p:sp>
      <p:sp>
        <p:nvSpPr>
          <p:cNvPr id="32" name="TextBox 31"/>
          <p:cNvSpPr txBox="1"/>
          <p:nvPr/>
        </p:nvSpPr>
        <p:spPr>
          <a:xfrm>
            <a:off x="5715000" y="5285232"/>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33" name="TextBox 32"/>
          <p:cNvSpPr txBox="1"/>
          <p:nvPr/>
        </p:nvSpPr>
        <p:spPr>
          <a:xfrm>
            <a:off x="5879592" y="5285232"/>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상품명·미지원 주장 검사</a:t>
            </a:r>
          </a:p>
        </p:txBody>
      </p:sp>
      <p:sp>
        <p:nvSpPr>
          <p:cNvPr id="34" name="TextBox 33"/>
          <p:cNvSpPr txBox="1"/>
          <p:nvPr/>
        </p:nvSpPr>
        <p:spPr>
          <a:xfrm>
            <a:off x="9400032" y="4462272"/>
            <a:ext cx="2606040" cy="219456"/>
          </a:xfrm>
          <a:prstGeom prst="rect">
            <a:avLst/>
          </a:prstGeom>
          <a:noFill/>
        </p:spPr>
        <p:txBody>
          <a:bodyPr wrap="square" lIns="13716" rIns="13716" tIns="9144" bIns="9144" anchor="t">
            <a:spAutoFit/>
          </a:bodyPr>
          <a:lstStyle/>
          <a:p>
            <a:pPr algn="l">
              <a:spcAft>
                <a:spcPts val="0"/>
              </a:spcAft>
            </a:pPr>
            <a:r>
              <a:rPr sz="1100" b="1">
                <a:solidFill>
                  <a:srgbClr val="2563EB"/>
                </a:solidFill>
                <a:latin typeface="Malgun Gothic"/>
              </a:rPr>
              <a:t>03  주장·한계</a:t>
            </a:r>
          </a:p>
        </p:txBody>
      </p:sp>
      <p:sp>
        <p:nvSpPr>
          <p:cNvPr id="35" name="TextBox 34"/>
          <p:cNvSpPr txBox="1"/>
          <p:nvPr/>
        </p:nvSpPr>
        <p:spPr>
          <a:xfrm>
            <a:off x="9400032" y="4791456"/>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36" name="TextBox 35"/>
          <p:cNvSpPr txBox="1"/>
          <p:nvPr/>
        </p:nvSpPr>
        <p:spPr>
          <a:xfrm>
            <a:off x="9564624" y="4791456"/>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허용된 요약 evidence-ref인지</a:t>
            </a:r>
          </a:p>
        </p:txBody>
      </p:sp>
      <p:sp>
        <p:nvSpPr>
          <p:cNvPr id="37" name="TextBox 36"/>
          <p:cNvSpPr txBox="1"/>
          <p:nvPr/>
        </p:nvSpPr>
        <p:spPr>
          <a:xfrm>
            <a:off x="9400032" y="5038344"/>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38" name="TextBox 37"/>
          <p:cNvSpPr txBox="1"/>
          <p:nvPr/>
        </p:nvSpPr>
        <p:spPr>
          <a:xfrm>
            <a:off x="9564624" y="5038344"/>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우선 품목 ID·중복 여부</a:t>
            </a:r>
          </a:p>
        </p:txBody>
      </p:sp>
      <p:sp>
        <p:nvSpPr>
          <p:cNvPr id="39" name="TextBox 38"/>
          <p:cNvSpPr txBox="1"/>
          <p:nvPr/>
        </p:nvSpPr>
        <p:spPr>
          <a:xfrm>
            <a:off x="9400032" y="5285232"/>
            <a:ext cx="128016"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a:t>
            </a:r>
          </a:p>
        </p:txBody>
      </p:sp>
      <p:sp>
        <p:nvSpPr>
          <p:cNvPr id="40" name="TextBox 39"/>
          <p:cNvSpPr txBox="1"/>
          <p:nvPr/>
        </p:nvSpPr>
        <p:spPr>
          <a:xfrm>
            <a:off x="9564624" y="5285232"/>
            <a:ext cx="2505456" cy="210312"/>
          </a:xfrm>
          <a:prstGeom prst="rect">
            <a:avLst/>
          </a:prstGeom>
          <a:noFill/>
        </p:spPr>
        <p:txBody>
          <a:bodyPr wrap="square" lIns="13716" rIns="13716" tIns="9144" bIns="9144" anchor="t">
            <a:spAutoFit/>
          </a:bodyPr>
          <a:lstStyle/>
          <a:p>
            <a:pPr algn="l">
              <a:spcAft>
                <a:spcPts val="0"/>
              </a:spcAft>
            </a:pPr>
            <a:r>
              <a:rPr sz="900" b="0">
                <a:solidFill>
                  <a:srgbClr val="142B4A"/>
                </a:solidFill>
                <a:latin typeface="Malgun Gothic"/>
              </a:rPr>
              <a:t>한계 플래그가 입력과 일치</a:t>
            </a:r>
          </a:p>
        </p:txBody>
      </p:sp>
      <p:sp>
        <p:nvSpPr>
          <p:cNvPr id="41" name="TextBox 40"/>
          <p:cNvSpPr txBox="1"/>
          <p:nvPr/>
        </p:nvSpPr>
        <p:spPr>
          <a:xfrm>
            <a:off x="658368" y="5742432"/>
            <a:ext cx="10881360" cy="164592"/>
          </a:xfrm>
          <a:prstGeom prst="rect">
            <a:avLst/>
          </a:prstGeom>
          <a:noFill/>
        </p:spPr>
        <p:txBody>
          <a:bodyPr wrap="square" lIns="13716" rIns="13716" tIns="9144" bIns="9144" anchor="t">
            <a:spAutoFit/>
          </a:bodyPr>
          <a:lstStyle/>
          <a:p>
            <a:pPr algn="l">
              <a:spcAft>
                <a:spcPts val="0"/>
              </a:spcAft>
            </a:pPr>
            <a:r>
              <a:rPr sz="900" b="0">
                <a:solidFill>
                  <a:srgbClr val="64748B"/>
                </a:solidFill>
                <a:latin typeface="Malgun Gothic"/>
              </a:rPr>
              <a:t>검증은 위험을 낮추지만, 문장의 의미상 사실성을 완전히 보장하지는 않습니다.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3108960" cy="182880"/>
          </a:xfrm>
          <a:prstGeom prst="rect">
            <a:avLst/>
          </a:prstGeom>
          <a:noFill/>
        </p:spPr>
        <p:txBody>
          <a:bodyPr wrap="square" lIns="13716" rIns="13716" tIns="9144" bIns="9144" anchor="t">
            <a:spAutoFit/>
          </a:bodyPr>
          <a:lstStyle/>
          <a:p>
            <a:pPr algn="l">
              <a:spcAft>
                <a:spcPts val="0"/>
              </a:spcAft>
            </a:pPr>
            <a:r>
              <a:rPr sz="900" b="1">
                <a:solidFill>
                  <a:srgbClr val="2563EB"/>
                </a:solidFill>
                <a:latin typeface="Malgun Gothic"/>
              </a:rPr>
              <a:t>STOCKCLEAR  /  LLM</a:t>
            </a:r>
          </a:p>
        </p:txBody>
      </p:sp>
      <p:sp>
        <p:nvSpPr>
          <p:cNvPr id="4" name="TextBox 3"/>
          <p:cNvSpPr txBox="1"/>
          <p:nvPr/>
        </p:nvSpPr>
        <p:spPr>
          <a:xfrm>
            <a:off x="8321040" y="256032"/>
            <a:ext cx="3246120" cy="182880"/>
          </a:xfrm>
          <a:prstGeom prst="rect">
            <a:avLst/>
          </a:prstGeom>
          <a:noFill/>
        </p:spPr>
        <p:txBody>
          <a:bodyPr wrap="square" lIns="13716" rIns="13716" tIns="9144" bIns="9144" anchor="t">
            <a:spAutoFit/>
          </a:bodyPr>
          <a:lstStyle/>
          <a:p>
            <a:pPr algn="r">
              <a:spcAft>
                <a:spcPts val="0"/>
              </a:spcAft>
            </a:pPr>
            <a:r>
              <a:rPr sz="900" b="1">
                <a:solidFill>
                  <a:srgbClr val="64748B"/>
                </a:solidFill>
                <a:latin typeface="Malgun Gothic"/>
              </a:rPr>
              <a:t>RUNTIME &amp; RECOVERY</a:t>
            </a:r>
          </a:p>
        </p:txBody>
      </p:sp>
      <p:sp>
        <p:nvSpPr>
          <p:cNvPr id="5" name="TextBox 4"/>
          <p:cNvSpPr txBox="1"/>
          <p:nvPr/>
        </p:nvSpPr>
        <p:spPr>
          <a:xfrm>
            <a:off x="594360" y="640080"/>
            <a:ext cx="10972800" cy="457200"/>
          </a:xfrm>
          <a:prstGeom prst="rect">
            <a:avLst/>
          </a:prstGeom>
          <a:noFill/>
        </p:spPr>
        <p:txBody>
          <a:bodyPr wrap="square" lIns="13716" rIns="13716" tIns="9144" bIns="9144" anchor="t">
            <a:spAutoFit/>
          </a:bodyPr>
          <a:lstStyle/>
          <a:p>
            <a:pPr algn="l">
              <a:spcAft>
                <a:spcPts val="0"/>
              </a:spcAft>
            </a:pPr>
            <a:r>
              <a:rPr sz="2600" b="1">
                <a:solidFill>
                  <a:srgbClr val="142B4A"/>
                </a:solidFill>
                <a:latin typeface="Malgun Gothic"/>
              </a:rPr>
              <a:t>성능 제어 및 실패 복구</a:t>
            </a:r>
          </a:p>
        </p:txBody>
      </p:sp>
      <p:sp>
        <p:nvSpPr>
          <p:cNvPr id="6" name="TextBox 5"/>
          <p:cNvSpPr txBox="1"/>
          <p:nvPr/>
        </p:nvSpPr>
        <p:spPr>
          <a:xfrm>
            <a:off x="612648" y="1188720"/>
            <a:ext cx="10972800" cy="320040"/>
          </a:xfrm>
          <a:prstGeom prst="rect">
            <a:avLst/>
          </a:prstGeom>
          <a:noFill/>
        </p:spPr>
        <p:txBody>
          <a:bodyPr wrap="square" lIns="13716" rIns="13716" tIns="9144" bIns="9144" anchor="t">
            <a:spAutoFit/>
          </a:bodyPr>
          <a:lstStyle/>
          <a:p>
            <a:pPr algn="l">
              <a:spcAft>
                <a:spcPts val="0"/>
              </a:spcAft>
            </a:pPr>
            <a:r>
              <a:rPr sz="1100" b="0">
                <a:solidFill>
                  <a:srgbClr val="64748B"/>
                </a:solidFill>
                <a:latin typeface="Malgun Gothic"/>
              </a:rPr>
              <a:t>품목 진단과 업로드 요약은 각각 다른 실패 정책으로 처리합니다.</a:t>
            </a:r>
          </a:p>
        </p:txBody>
      </p:sp>
      <p:sp>
        <p:nvSpPr>
          <p:cNvPr id="7" name="Rectangle 6"/>
          <p:cNvSpPr/>
          <p:nvPr/>
        </p:nvSpPr>
        <p:spPr>
          <a:xfrm>
            <a:off x="594360" y="1600200"/>
            <a:ext cx="1097280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78440" y="6510528"/>
            <a:ext cx="1143000" cy="164592"/>
          </a:xfrm>
          <a:prstGeom prst="rect">
            <a:avLst/>
          </a:prstGeom>
          <a:noFill/>
        </p:spPr>
        <p:txBody>
          <a:bodyPr wrap="square" lIns="13716" rIns="13716" tIns="9144" bIns="9144" anchor="t">
            <a:spAutoFit/>
          </a:bodyPr>
          <a:lstStyle/>
          <a:p>
            <a:pPr algn="r">
              <a:spcAft>
                <a:spcPts val="0"/>
              </a:spcAft>
            </a:pPr>
            <a:r>
              <a:rPr sz="800" b="1">
                <a:solidFill>
                  <a:srgbClr val="64748B"/>
                </a:solidFill>
                <a:latin typeface="Malgun Gothic"/>
              </a:rPr>
              <a:t>03  /  03</a:t>
            </a:r>
          </a:p>
        </p:txBody>
      </p:sp>
      <p:sp>
        <p:nvSpPr>
          <p:cNvPr id="9" name="Rectangle 8"/>
          <p:cNvSpPr/>
          <p:nvPr/>
        </p:nvSpPr>
        <p:spPr>
          <a:xfrm>
            <a:off x="621792" y="1993392"/>
            <a:ext cx="5321808" cy="363931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993392"/>
            <a:ext cx="73152" cy="363931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212848"/>
            <a:ext cx="4480560" cy="274320"/>
          </a:xfrm>
          <a:prstGeom prst="rect">
            <a:avLst/>
          </a:prstGeom>
          <a:noFill/>
        </p:spPr>
        <p:txBody>
          <a:bodyPr wrap="square" lIns="13716" rIns="13716" tIns="9144" bIns="9144" anchor="t">
            <a:spAutoFit/>
          </a:bodyPr>
          <a:lstStyle/>
          <a:p>
            <a:pPr algn="l">
              <a:spcAft>
                <a:spcPts val="0"/>
              </a:spcAft>
            </a:pPr>
            <a:r>
              <a:rPr sz="1700" b="1">
                <a:solidFill>
                  <a:srgbClr val="142B4A"/>
                </a:solidFill>
                <a:latin typeface="Malgun Gothic"/>
              </a:rPr>
              <a:t>품목 진단</a:t>
            </a:r>
          </a:p>
        </p:txBody>
      </p:sp>
      <p:sp>
        <p:nvSpPr>
          <p:cNvPr id="12" name="TextBox 11"/>
          <p:cNvSpPr txBox="1"/>
          <p:nvPr/>
        </p:nvSpPr>
        <p:spPr>
          <a:xfrm>
            <a:off x="896112" y="2587752"/>
            <a:ext cx="4663440" cy="201168"/>
          </a:xfrm>
          <a:prstGeom prst="rect">
            <a:avLst/>
          </a:prstGeom>
          <a:noFill/>
        </p:spPr>
        <p:txBody>
          <a:bodyPr wrap="square" lIns="13716" rIns="13716" tIns="9144" bIns="9144" anchor="t">
            <a:spAutoFit/>
          </a:bodyPr>
          <a:lstStyle/>
          <a:p>
            <a:pPr algn="l">
              <a:spcAft>
                <a:spcPts val="0"/>
              </a:spcAft>
            </a:pPr>
            <a:r>
              <a:rPr sz="900" b="1">
                <a:solidFill>
                  <a:srgbClr val="64748B"/>
                </a:solidFill>
                <a:latin typeface="Malgun Gothic"/>
              </a:rPr>
              <a:t>입력 해시 → 캐시 재검증 → 적중 시 재사용</a:t>
            </a:r>
          </a:p>
        </p:txBody>
      </p:sp>
      <p:sp>
        <p:nvSpPr>
          <p:cNvPr id="13" name="TextBox 12"/>
          <p:cNvSpPr txBox="1"/>
          <p:nvPr/>
        </p:nvSpPr>
        <p:spPr>
          <a:xfrm>
            <a:off x="896112" y="2871216"/>
            <a:ext cx="4663440" cy="201168"/>
          </a:xfrm>
          <a:prstGeom prst="rect">
            <a:avLst/>
          </a:prstGeom>
          <a:noFill/>
        </p:spPr>
        <p:txBody>
          <a:bodyPr wrap="square" lIns="13716" rIns="13716" tIns="9144" bIns="9144" anchor="t">
            <a:spAutoFit/>
          </a:bodyPr>
          <a:lstStyle/>
          <a:p>
            <a:pPr algn="l">
              <a:spcAft>
                <a:spcPts val="0"/>
              </a:spcAft>
            </a:pPr>
            <a:r>
              <a:rPr sz="900" b="1">
                <a:solidFill>
                  <a:srgbClr val="64748B"/>
                </a:solidFill>
                <a:latin typeface="Malgun Gothic"/>
              </a:rPr>
              <a:t>캐시 미스 → LLM 호출 → 파싱·스키마·근거 검증</a:t>
            </a:r>
          </a:p>
        </p:txBody>
      </p:sp>
      <p:sp>
        <p:nvSpPr>
          <p:cNvPr id="14" name="Rectangle 13"/>
          <p:cNvSpPr/>
          <p:nvPr/>
        </p:nvSpPr>
        <p:spPr>
          <a:xfrm>
            <a:off x="896112" y="3273552"/>
            <a:ext cx="2139696"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374136"/>
            <a:ext cx="1901952" cy="310896"/>
          </a:xfrm>
          <a:prstGeom prst="rect">
            <a:avLst/>
          </a:prstGeom>
          <a:noFill/>
        </p:spPr>
        <p:txBody>
          <a:bodyPr wrap="square" lIns="13716" rIns="13716" tIns="9144" bIns="9144" anchor="t">
            <a:spAutoFit/>
          </a:bodyPr>
          <a:lstStyle/>
          <a:p>
            <a:pPr algn="l">
              <a:spcAft>
                <a:spcPts val="0"/>
              </a:spcAft>
            </a:pPr>
            <a:r>
              <a:rPr sz="900" b="1">
                <a:solidFill>
                  <a:srgbClr val="142B4A"/>
                </a:solidFill>
                <a:latin typeface="Malgun Gothic"/>
              </a:rPr>
              <a:t>정상 응답 → 서버와 조립
AI 성공 결과만 캐시</a:t>
            </a:r>
          </a:p>
        </p:txBody>
      </p:sp>
      <p:sp>
        <p:nvSpPr>
          <p:cNvPr id="16" name="Rectangle 15"/>
          <p:cNvSpPr/>
          <p:nvPr/>
        </p:nvSpPr>
        <p:spPr>
          <a:xfrm>
            <a:off x="3273552" y="3273552"/>
            <a:ext cx="2249424" cy="475488"/>
          </a:xfrm>
          <a:prstGeom prst="rect">
            <a:avLst/>
          </a:prstGeom>
          <a:solidFill>
            <a:srgbClr val="D9E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1568" y="3374136"/>
            <a:ext cx="1993392" cy="310896"/>
          </a:xfrm>
          <a:prstGeom prst="rect">
            <a:avLst/>
          </a:prstGeom>
          <a:noFill/>
        </p:spPr>
        <p:txBody>
          <a:bodyPr wrap="square" lIns="13716" rIns="13716" tIns="9144" bIns="9144" anchor="t">
            <a:spAutoFit/>
          </a:bodyPr>
          <a:lstStyle/>
          <a:p>
            <a:pPr algn="l">
              <a:spcAft>
                <a:spcPts val="0"/>
              </a:spcAft>
            </a:pPr>
            <a:r>
              <a:rPr sz="900" b="1">
                <a:solidFill>
                  <a:srgbClr val="142B4A"/>
                </a:solidFill>
                <a:latin typeface="Malgun Gothic"/>
              </a:rPr>
              <a:t>API·timeout·검증 실패
→ 규칙 기반 설명</a:t>
            </a:r>
          </a:p>
        </p:txBody>
      </p:sp>
      <p:sp>
        <p:nvSpPr>
          <p:cNvPr id="18" name="TextBox 17"/>
          <p:cNvSpPr txBox="1"/>
          <p:nvPr/>
        </p:nvSpPr>
        <p:spPr>
          <a:xfrm>
            <a:off x="896112" y="4041648"/>
            <a:ext cx="822960" cy="347472"/>
          </a:xfrm>
          <a:prstGeom prst="rect">
            <a:avLst/>
          </a:prstGeom>
          <a:noFill/>
        </p:spPr>
        <p:txBody>
          <a:bodyPr wrap="square" lIns="13716" rIns="13716" tIns="9144" bIns="9144" anchor="t">
            <a:spAutoFit/>
          </a:bodyPr>
          <a:lstStyle/>
          <a:p>
            <a:pPr algn="l">
              <a:spcAft>
                <a:spcPts val="0"/>
              </a:spcAft>
            </a:pPr>
            <a:r>
              <a:rPr sz="2200" b="1">
                <a:solidFill>
                  <a:srgbClr val="2563EB"/>
                </a:solidFill>
                <a:latin typeface="Malgun Gothic"/>
              </a:rPr>
              <a:t>12초</a:t>
            </a:r>
          </a:p>
        </p:txBody>
      </p:sp>
      <p:sp>
        <p:nvSpPr>
          <p:cNvPr id="19" name="TextBox 18"/>
          <p:cNvSpPr txBox="1"/>
          <p:nvPr/>
        </p:nvSpPr>
        <p:spPr>
          <a:xfrm>
            <a:off x="896112" y="4416552"/>
            <a:ext cx="1280160" cy="164592"/>
          </a:xfrm>
          <a:prstGeom prst="rect">
            <a:avLst/>
          </a:prstGeom>
          <a:noFill/>
        </p:spPr>
        <p:txBody>
          <a:bodyPr wrap="square" lIns="13716" rIns="13716" tIns="9144" bIns="9144" anchor="t">
            <a:spAutoFit/>
          </a:bodyPr>
          <a:lstStyle/>
          <a:p>
            <a:pPr algn="l">
              <a:spcAft>
                <a:spcPts val="0"/>
              </a:spcAft>
            </a:pPr>
            <a:r>
              <a:rPr sz="900" b="0">
                <a:solidFill>
                  <a:srgbClr val="64748B"/>
                </a:solidFill>
                <a:latin typeface="Malgun Gothic"/>
              </a:rPr>
              <a:t>요청 대기 제한</a:t>
            </a:r>
          </a:p>
        </p:txBody>
      </p:sp>
      <p:sp>
        <p:nvSpPr>
          <p:cNvPr id="20" name="TextBox 19"/>
          <p:cNvSpPr txBox="1"/>
          <p:nvPr/>
        </p:nvSpPr>
        <p:spPr>
          <a:xfrm>
            <a:off x="2404872" y="4041648"/>
            <a:ext cx="1325880" cy="347472"/>
          </a:xfrm>
          <a:prstGeom prst="rect">
            <a:avLst/>
          </a:prstGeom>
          <a:noFill/>
        </p:spPr>
        <p:txBody>
          <a:bodyPr wrap="square" lIns="13716" rIns="13716" tIns="9144" bIns="9144" anchor="t">
            <a:spAutoFit/>
          </a:bodyPr>
          <a:lstStyle/>
          <a:p>
            <a:pPr algn="l">
              <a:spcAft>
                <a:spcPts val="0"/>
              </a:spcAft>
            </a:pPr>
            <a:r>
              <a:rPr sz="1600" b="1">
                <a:solidFill>
                  <a:srgbClr val="2563EB"/>
                </a:solidFill>
                <a:latin typeface="Malgun Gothic"/>
              </a:rPr>
              <a:t>1 / 사용자</a:t>
            </a:r>
          </a:p>
        </p:txBody>
      </p:sp>
      <p:sp>
        <p:nvSpPr>
          <p:cNvPr id="21" name="TextBox 20"/>
          <p:cNvSpPr txBox="1"/>
          <p:nvPr/>
        </p:nvSpPr>
        <p:spPr>
          <a:xfrm>
            <a:off x="2404872" y="4416552"/>
            <a:ext cx="1371600" cy="164592"/>
          </a:xfrm>
          <a:prstGeom prst="rect">
            <a:avLst/>
          </a:prstGeom>
          <a:noFill/>
        </p:spPr>
        <p:txBody>
          <a:bodyPr wrap="square" lIns="13716" rIns="13716" tIns="9144" bIns="9144" anchor="t">
            <a:spAutoFit/>
          </a:bodyPr>
          <a:lstStyle/>
          <a:p>
            <a:pPr algn="l">
              <a:spcAft>
                <a:spcPts val="0"/>
              </a:spcAft>
            </a:pPr>
            <a:r>
              <a:rPr sz="900" b="0">
                <a:solidFill>
                  <a:srgbClr val="64748B"/>
                </a:solidFill>
                <a:latin typeface="Malgun Gothic"/>
              </a:rPr>
              <a:t>동시 요청 제한</a:t>
            </a:r>
          </a:p>
        </p:txBody>
      </p:sp>
      <p:sp>
        <p:nvSpPr>
          <p:cNvPr id="22" name="TextBox 21"/>
          <p:cNvSpPr txBox="1"/>
          <p:nvPr/>
        </p:nvSpPr>
        <p:spPr>
          <a:xfrm>
            <a:off x="3895344" y="4041648"/>
            <a:ext cx="1645920" cy="347472"/>
          </a:xfrm>
          <a:prstGeom prst="rect">
            <a:avLst/>
          </a:prstGeom>
          <a:noFill/>
        </p:spPr>
        <p:txBody>
          <a:bodyPr wrap="square" lIns="13716" rIns="13716" tIns="9144" bIns="9144" anchor="t">
            <a:spAutoFit/>
          </a:bodyPr>
          <a:lstStyle/>
          <a:p>
            <a:pPr algn="l">
              <a:spcAft>
                <a:spcPts val="0"/>
              </a:spcAft>
            </a:pPr>
            <a:r>
              <a:rPr sz="1500" b="1">
                <a:solidFill>
                  <a:srgbClr val="2563EB"/>
                </a:solidFill>
                <a:latin typeface="Malgun Gothic"/>
              </a:rPr>
              <a:t>8 / 프로세스</a:t>
            </a:r>
          </a:p>
        </p:txBody>
      </p:sp>
      <p:sp>
        <p:nvSpPr>
          <p:cNvPr id="23" name="TextBox 22"/>
          <p:cNvSpPr txBox="1"/>
          <p:nvPr/>
        </p:nvSpPr>
        <p:spPr>
          <a:xfrm>
            <a:off x="3895344" y="4416552"/>
            <a:ext cx="1645920" cy="164592"/>
          </a:xfrm>
          <a:prstGeom prst="rect">
            <a:avLst/>
          </a:prstGeom>
          <a:noFill/>
        </p:spPr>
        <p:txBody>
          <a:bodyPr wrap="square" lIns="13716" rIns="13716" tIns="9144" bIns="9144" anchor="t">
            <a:spAutoFit/>
          </a:bodyPr>
          <a:lstStyle/>
          <a:p>
            <a:pPr algn="l">
              <a:spcAft>
                <a:spcPts val="0"/>
              </a:spcAft>
            </a:pPr>
            <a:r>
              <a:rPr sz="900" b="0">
                <a:solidFill>
                  <a:srgbClr val="64748B"/>
                </a:solidFill>
                <a:latin typeface="Malgun Gothic"/>
              </a:rPr>
              <a:t>프로세스 동시 제한</a:t>
            </a:r>
          </a:p>
        </p:txBody>
      </p:sp>
      <p:sp>
        <p:nvSpPr>
          <p:cNvPr id="24" name="TextBox 23"/>
          <p:cNvSpPr txBox="1"/>
          <p:nvPr/>
        </p:nvSpPr>
        <p:spPr>
          <a:xfrm>
            <a:off x="896112" y="4892040"/>
            <a:ext cx="4617720" cy="173736"/>
          </a:xfrm>
          <a:prstGeom prst="rect">
            <a:avLst/>
          </a:prstGeom>
          <a:noFill/>
        </p:spPr>
        <p:txBody>
          <a:bodyPr wrap="square" lIns="13716" rIns="13716" tIns="9144" bIns="9144" anchor="t">
            <a:spAutoFit/>
          </a:bodyPr>
          <a:lstStyle/>
          <a:p>
            <a:pPr algn="l">
              <a:spcAft>
                <a:spcPts val="0"/>
              </a:spcAft>
            </a:pPr>
            <a:r>
              <a:rPr sz="900" b="0">
                <a:solidFill>
                  <a:srgbClr val="64748B"/>
                </a:solidFill>
                <a:latin typeface="Malgun Gothic"/>
              </a:rPr>
              <a:t>fallback 응답은 성공한 AI 캐시로 저장하지 않음</a:t>
            </a:r>
          </a:p>
        </p:txBody>
      </p:sp>
      <p:sp>
        <p:nvSpPr>
          <p:cNvPr id="25" name="Rectangle 24"/>
          <p:cNvSpPr/>
          <p:nvPr/>
        </p:nvSpPr>
        <p:spPr>
          <a:xfrm>
            <a:off x="6236208" y="1993392"/>
            <a:ext cx="5321808" cy="363931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6208" y="1993392"/>
            <a:ext cx="73152" cy="3639312"/>
          </a:xfrm>
          <a:prstGeom prst="rect">
            <a:avLst/>
          </a:prstGeom>
          <a:solidFill>
            <a:srgbClr val="14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2212848"/>
            <a:ext cx="4480560" cy="274320"/>
          </a:xfrm>
          <a:prstGeom prst="rect">
            <a:avLst/>
          </a:prstGeom>
          <a:noFill/>
        </p:spPr>
        <p:txBody>
          <a:bodyPr wrap="square" lIns="13716" rIns="13716" tIns="9144" bIns="9144" anchor="t">
            <a:spAutoFit/>
          </a:bodyPr>
          <a:lstStyle/>
          <a:p>
            <a:pPr algn="l">
              <a:spcAft>
                <a:spcPts val="0"/>
              </a:spcAft>
            </a:pPr>
            <a:r>
              <a:rPr sz="1700" b="1">
                <a:solidFill>
                  <a:srgbClr val="142B4A"/>
                </a:solidFill>
                <a:latin typeface="Malgun Gothic"/>
              </a:rPr>
              <a:t>업로드 요약</a:t>
            </a:r>
          </a:p>
        </p:txBody>
      </p:sp>
      <p:sp>
        <p:nvSpPr>
          <p:cNvPr id="28" name="TextBox 27"/>
          <p:cNvSpPr txBox="1"/>
          <p:nvPr/>
        </p:nvSpPr>
        <p:spPr>
          <a:xfrm>
            <a:off x="6510528" y="2587752"/>
            <a:ext cx="4526280" cy="201168"/>
          </a:xfrm>
          <a:prstGeom prst="rect">
            <a:avLst/>
          </a:prstGeom>
          <a:noFill/>
        </p:spPr>
        <p:txBody>
          <a:bodyPr wrap="square" lIns="13716" rIns="13716" tIns="9144" bIns="9144" anchor="t">
            <a:spAutoFit/>
          </a:bodyPr>
          <a:lstStyle/>
          <a:p>
            <a:pPr algn="l">
              <a:spcAft>
                <a:spcPts val="0"/>
              </a:spcAft>
            </a:pPr>
            <a:r>
              <a:rPr sz="1000" b="0">
                <a:solidFill>
                  <a:srgbClr val="64748B"/>
                </a:solidFill>
                <a:latin typeface="Malgun Gothic"/>
              </a:rPr>
              <a:t>성공·실패 상태를 분리해 저장</a:t>
            </a:r>
          </a:p>
        </p:txBody>
      </p:sp>
      <p:sp>
        <p:nvSpPr>
          <p:cNvPr id="29" name="TextBox 28"/>
          <p:cNvSpPr txBox="1"/>
          <p:nvPr/>
        </p:nvSpPr>
        <p:spPr>
          <a:xfrm>
            <a:off x="6510528" y="3054096"/>
            <a:ext cx="1325880" cy="182880"/>
          </a:xfrm>
          <a:prstGeom prst="rect">
            <a:avLst/>
          </a:prstGeom>
          <a:noFill/>
        </p:spPr>
        <p:txBody>
          <a:bodyPr wrap="square" lIns="13716" rIns="13716" tIns="9144" bIns="9144" anchor="t">
            <a:spAutoFit/>
          </a:bodyPr>
          <a:lstStyle/>
          <a:p>
            <a:pPr algn="ctr">
              <a:spcAft>
                <a:spcPts val="0"/>
              </a:spcAft>
            </a:pPr>
            <a:r>
              <a:rPr sz="900" b="1">
                <a:solidFill>
                  <a:srgbClr val="2563EB"/>
                </a:solidFill>
                <a:latin typeface="Malgun Gothic"/>
              </a:rPr>
              <a:t>요약 생성 · 15초 제한</a:t>
            </a:r>
          </a:p>
        </p:txBody>
      </p:sp>
      <p:sp>
        <p:nvSpPr>
          <p:cNvPr id="30" name="Rounded Rectangle 29"/>
          <p:cNvSpPr/>
          <p:nvPr/>
        </p:nvSpPr>
        <p:spPr>
          <a:xfrm>
            <a:off x="6510528" y="3328416"/>
            <a:ext cx="1325880" cy="5669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520440"/>
            <a:ext cx="1179576" cy="182880"/>
          </a:xfrm>
          <a:prstGeom prst="rect">
            <a:avLst/>
          </a:prstGeom>
          <a:noFill/>
        </p:spPr>
        <p:txBody>
          <a:bodyPr wrap="square" lIns="13716" rIns="13716" tIns="9144" bIns="9144" anchor="t">
            <a:spAutoFit/>
          </a:bodyPr>
          <a:lstStyle/>
          <a:p>
            <a:pPr algn="ctr">
              <a:spcAft>
                <a:spcPts val="0"/>
              </a:spcAft>
            </a:pPr>
            <a:r>
              <a:rPr sz="900" b="1">
                <a:solidFill>
                  <a:srgbClr val="142B4A"/>
                </a:solidFill>
                <a:latin typeface="Malgun Gothic"/>
              </a:rPr>
              <a:t>요약 생성</a:t>
            </a:r>
          </a:p>
        </p:txBody>
      </p:sp>
      <p:sp>
        <p:nvSpPr>
          <p:cNvPr id="32" name="TextBox 31"/>
          <p:cNvSpPr txBox="1"/>
          <p:nvPr/>
        </p:nvSpPr>
        <p:spPr>
          <a:xfrm>
            <a:off x="8028431" y="3054096"/>
            <a:ext cx="1325880" cy="182880"/>
          </a:xfrm>
          <a:prstGeom prst="rect">
            <a:avLst/>
          </a:prstGeom>
          <a:noFill/>
        </p:spPr>
        <p:txBody>
          <a:bodyPr wrap="square" lIns="13716" rIns="13716" tIns="9144" bIns="9144" anchor="t">
            <a:spAutoFit/>
          </a:bodyPr>
          <a:lstStyle/>
          <a:p>
            <a:pPr algn="ctr">
              <a:spcAft>
                <a:spcPts val="0"/>
              </a:spcAft>
            </a:pPr>
            <a:r>
              <a:rPr sz="800" b="1">
                <a:solidFill>
                  <a:srgbClr val="2563EB"/>
                </a:solidFill>
                <a:latin typeface="Malgun Gothic"/>
              </a:rPr>
              <a:t>JSON·근거 검증</a:t>
            </a:r>
          </a:p>
        </p:txBody>
      </p:sp>
      <p:sp>
        <p:nvSpPr>
          <p:cNvPr id="33" name="Rounded Rectangle 32"/>
          <p:cNvSpPr/>
          <p:nvPr/>
        </p:nvSpPr>
        <p:spPr>
          <a:xfrm>
            <a:off x="8028431" y="3328416"/>
            <a:ext cx="1325880" cy="5669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92440" y="3447288"/>
            <a:ext cx="1197864" cy="320040"/>
          </a:xfrm>
          <a:prstGeom prst="rect">
            <a:avLst/>
          </a:prstGeom>
          <a:noFill/>
        </p:spPr>
        <p:txBody>
          <a:bodyPr wrap="square" lIns="13716" rIns="13716" tIns="9144" bIns="9144" anchor="t">
            <a:spAutoFit/>
          </a:bodyPr>
          <a:lstStyle/>
          <a:p>
            <a:pPr algn="ctr">
              <a:spcAft>
                <a:spcPts val="0"/>
              </a:spcAft>
            </a:pPr>
            <a:r>
              <a:rPr sz="900" b="1">
                <a:solidFill>
                  <a:srgbClr val="142B4A"/>
                </a:solidFill>
                <a:latin typeface="Malgun Gothic"/>
              </a:rPr>
              <a:t>Pydantic
허용 근거 대조</a:t>
            </a:r>
          </a:p>
        </p:txBody>
      </p:sp>
      <p:cxnSp>
        <p:nvCxnSpPr>
          <p:cNvPr id="35" name="Connector 34"/>
          <p:cNvCxnSpPr/>
          <p:nvPr/>
        </p:nvCxnSpPr>
        <p:spPr>
          <a:xfrm>
            <a:off x="7854696" y="3611880"/>
            <a:ext cx="146304"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994392" y="2907792"/>
            <a:ext cx="1261872" cy="6583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76688" y="3026664"/>
            <a:ext cx="1097280" cy="164592"/>
          </a:xfrm>
          <a:prstGeom prst="rect">
            <a:avLst/>
          </a:prstGeom>
          <a:noFill/>
        </p:spPr>
        <p:txBody>
          <a:bodyPr wrap="square" lIns="13716" rIns="13716" tIns="9144" bIns="9144" anchor="t">
            <a:spAutoFit/>
          </a:bodyPr>
          <a:lstStyle/>
          <a:p>
            <a:pPr algn="ctr">
              <a:spcAft>
                <a:spcPts val="0"/>
              </a:spcAft>
            </a:pPr>
            <a:r>
              <a:rPr sz="900" b="1">
                <a:solidFill>
                  <a:srgbClr val="2563EB"/>
                </a:solidFill>
                <a:latin typeface="Malgun Gothic"/>
              </a:rPr>
              <a:t>성공</a:t>
            </a:r>
          </a:p>
        </p:txBody>
      </p:sp>
      <p:sp>
        <p:nvSpPr>
          <p:cNvPr id="38" name="TextBox 37"/>
          <p:cNvSpPr txBox="1"/>
          <p:nvPr/>
        </p:nvSpPr>
        <p:spPr>
          <a:xfrm>
            <a:off x="10076688" y="3282696"/>
            <a:ext cx="1097280" cy="155448"/>
          </a:xfrm>
          <a:prstGeom prst="rect">
            <a:avLst/>
          </a:prstGeom>
          <a:noFill/>
        </p:spPr>
        <p:txBody>
          <a:bodyPr wrap="square" lIns="13716" rIns="13716" tIns="9144" bIns="9144" anchor="t">
            <a:spAutoFit/>
          </a:bodyPr>
          <a:lstStyle/>
          <a:p>
            <a:pPr algn="ctr">
              <a:spcAft>
                <a:spcPts val="0"/>
              </a:spcAft>
            </a:pPr>
            <a:r>
              <a:rPr sz="800" b="0">
                <a:solidFill>
                  <a:srgbClr val="142B4A"/>
                </a:solidFill>
                <a:latin typeface="Malgun Gothic"/>
              </a:rPr>
              <a:t>성공: complete</a:t>
            </a:r>
          </a:p>
        </p:txBody>
      </p:sp>
      <p:sp>
        <p:nvSpPr>
          <p:cNvPr id="39" name="Rounded Rectangle 38"/>
          <p:cNvSpPr/>
          <p:nvPr/>
        </p:nvSpPr>
        <p:spPr>
          <a:xfrm>
            <a:off x="9994392" y="3831336"/>
            <a:ext cx="1261872" cy="7498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76688" y="3922776"/>
            <a:ext cx="1097280" cy="164592"/>
          </a:xfrm>
          <a:prstGeom prst="rect">
            <a:avLst/>
          </a:prstGeom>
          <a:noFill/>
        </p:spPr>
        <p:txBody>
          <a:bodyPr wrap="square" lIns="13716" rIns="13716" tIns="9144" bIns="9144" anchor="t">
            <a:spAutoFit/>
          </a:bodyPr>
          <a:lstStyle/>
          <a:p>
            <a:pPr algn="ctr">
              <a:spcAft>
                <a:spcPts val="0"/>
              </a:spcAft>
            </a:pPr>
            <a:r>
              <a:rPr sz="900" b="1">
                <a:solidFill>
                  <a:srgbClr val="142B4A"/>
                </a:solidFill>
                <a:latin typeface="Malgun Gothic"/>
              </a:rPr>
              <a:t>실패</a:t>
            </a:r>
          </a:p>
        </p:txBody>
      </p:sp>
      <p:sp>
        <p:nvSpPr>
          <p:cNvPr id="41" name="TextBox 40"/>
          <p:cNvSpPr txBox="1"/>
          <p:nvPr/>
        </p:nvSpPr>
        <p:spPr>
          <a:xfrm>
            <a:off x="10076688" y="4142232"/>
            <a:ext cx="1097280" cy="146304"/>
          </a:xfrm>
          <a:prstGeom prst="rect">
            <a:avLst/>
          </a:prstGeom>
          <a:noFill/>
        </p:spPr>
        <p:txBody>
          <a:bodyPr wrap="square" lIns="13716" rIns="13716" tIns="9144" bIns="9144" anchor="t">
            <a:spAutoFit/>
          </a:bodyPr>
          <a:lstStyle/>
          <a:p>
            <a:pPr algn="ctr">
              <a:spcAft>
                <a:spcPts val="0"/>
              </a:spcAft>
            </a:pPr>
            <a:r>
              <a:rPr sz="800" b="0">
                <a:solidFill>
                  <a:srgbClr val="64748B"/>
                </a:solidFill>
                <a:latin typeface="Malgun Gothic"/>
              </a:rPr>
              <a:t>실패: failed</a:t>
            </a:r>
          </a:p>
        </p:txBody>
      </p:sp>
      <p:cxnSp>
        <p:nvCxnSpPr>
          <p:cNvPr id="42" name="Connector 41"/>
          <p:cNvCxnSpPr/>
          <p:nvPr/>
        </p:nvCxnSpPr>
        <p:spPr>
          <a:xfrm flipV="1">
            <a:off x="9363456" y="3236976"/>
            <a:ext cx="585216" cy="374904"/>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363456" y="3611880"/>
            <a:ext cx="585216" cy="585216"/>
          </a:xfrm>
          <a:prstGeom prst="line">
            <a:avLst/>
          </a:prstGeom>
          <a:ln w="20320">
            <a:solidFill>
              <a:srgbClr val="142B4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10528" y="4700016"/>
            <a:ext cx="4645152" cy="182880"/>
          </a:xfrm>
          <a:prstGeom prst="rect">
            <a:avLst/>
          </a:prstGeom>
          <a:noFill/>
        </p:spPr>
        <p:txBody>
          <a:bodyPr wrap="square" lIns="13716" rIns="13716" tIns="9144" bIns="9144" anchor="t">
            <a:spAutoFit/>
          </a:bodyPr>
          <a:lstStyle/>
          <a:p>
            <a:pPr algn="ctr">
              <a:spcAft>
                <a:spcPts val="0"/>
              </a:spcAft>
            </a:pPr>
            <a:r>
              <a:rPr sz="900" b="1">
                <a:solidFill>
                  <a:srgbClr val="142B4A"/>
                </a:solidFill>
                <a:latin typeface="Malgun Gothic"/>
              </a:rPr>
              <a:t>재시도: 요청자 소유권 + failed 상태 확인</a:t>
            </a:r>
          </a:p>
        </p:txBody>
      </p:sp>
      <p:sp>
        <p:nvSpPr>
          <p:cNvPr id="45" name="TextBox 44"/>
          <p:cNvSpPr txBox="1"/>
          <p:nvPr/>
        </p:nvSpPr>
        <p:spPr>
          <a:xfrm>
            <a:off x="6510528" y="5056632"/>
            <a:ext cx="4645152" cy="164592"/>
          </a:xfrm>
          <a:prstGeom prst="rect">
            <a:avLst/>
          </a:prstGeom>
          <a:noFill/>
        </p:spPr>
        <p:txBody>
          <a:bodyPr wrap="square" lIns="13716" rIns="13716" tIns="9144" bIns="9144" anchor="t">
            <a:spAutoFit/>
          </a:bodyPr>
          <a:lstStyle/>
          <a:p>
            <a:pPr algn="ctr">
              <a:spcAft>
                <a:spcPts val="0"/>
              </a:spcAft>
            </a:pPr>
            <a:r>
              <a:rPr sz="900" b="0">
                <a:solidFill>
                  <a:srgbClr val="64748B"/>
                </a:solidFill>
                <a:latin typeface="Malgun Gothic"/>
              </a:rPr>
              <a:t>실패 시 규칙 기반 요약으로 대체하지 않음</a:t>
            </a:r>
          </a:p>
        </p:txBody>
      </p:sp>
      <p:sp>
        <p:nvSpPr>
          <p:cNvPr id="46" name="Rectangle 45"/>
          <p:cNvSpPr/>
          <p:nvPr/>
        </p:nvSpPr>
        <p:spPr>
          <a:xfrm>
            <a:off x="621792" y="5797296"/>
            <a:ext cx="10936224" cy="310896"/>
          </a:xfrm>
          <a:prstGeom prst="rect">
            <a:avLst/>
          </a:prstGeom>
          <a:solidFill>
            <a:srgbClr val="D9E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 y="5888736"/>
            <a:ext cx="10588752" cy="146304"/>
          </a:xfrm>
          <a:prstGeom prst="rect">
            <a:avLst/>
          </a:prstGeom>
          <a:noFill/>
        </p:spPr>
        <p:txBody>
          <a:bodyPr wrap="square" lIns="13716" rIns="13716" tIns="9144" bIns="9144" anchor="t">
            <a:spAutoFit/>
          </a:bodyPr>
          <a:lstStyle/>
          <a:p>
            <a:pPr algn="ctr">
              <a:spcAft>
                <a:spcPts val="0"/>
              </a:spcAft>
            </a:pPr>
            <a:r>
              <a:rPr sz="900" b="1">
                <a:solidFill>
                  <a:srgbClr val="142B4A"/>
                </a:solidFill>
                <a:latin typeface="Malgun Gothic"/>
              </a:rPr>
              <a:t>주의  ·  타임아웃은 요청 대기를 제한하며 실행 중인 스레드를 종료하지 않음   |   동시성 제한은 프로세스 단위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StockClear LLM 담당 구간</dc:title>
  <dc:subject>분석 컨텍스트, 환각 방지, 성능과 복구</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